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oboto Mon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RobotoMono-bold.fntdata"/><Relationship Id="rId10" Type="http://schemas.openxmlformats.org/officeDocument/2006/relationships/slide" Target="slides/slide5.xml"/><Relationship Id="rId21" Type="http://schemas.openxmlformats.org/officeDocument/2006/relationships/font" Target="fonts/RobotoMono-regular.fntdata"/><Relationship Id="rId13" Type="http://schemas.openxmlformats.org/officeDocument/2006/relationships/slide" Target="slides/slide8.xml"/><Relationship Id="rId24" Type="http://schemas.openxmlformats.org/officeDocument/2006/relationships/font" Target="fonts/RobotoMono-boldItalic.fntdata"/><Relationship Id="rId12" Type="http://schemas.openxmlformats.org/officeDocument/2006/relationships/slide" Target="slides/slide7.xml"/><Relationship Id="rId23" Type="http://schemas.openxmlformats.org/officeDocument/2006/relationships/font" Target="fonts/RobotoMon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f3624c89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f3624c89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4f3624c89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4f3624c89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4f3624c89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4f3624c89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4f3624c89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4f3624c89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4f3624c89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4f3624c89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4f3624c899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4f3624c899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4f3624c899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4f3624c89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f3624c899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4f3624c899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4f3624c899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4f3624c899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f3624c899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4f3624c899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f3624c899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f3624c899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4f3624c899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4f3624c899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4f3624c899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4f3624c899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4f3624c899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4f3624c899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6.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5.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Toolwear Classification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Prof. Kundan Kumar Singh, Aryan Pola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and Motivation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Challenge: We only have 32 original images(categorized into fine, mild, severe), which are insufficient for training a deep CNN.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Our Approach to solution: Augment the limited data </a:t>
            </a:r>
            <a:r>
              <a:rPr lang="en">
                <a:solidFill>
                  <a:schemeClr val="dk1"/>
                </a:solidFill>
              </a:rPr>
              <a:t>using</a:t>
            </a:r>
            <a:r>
              <a:rPr lang="en">
                <a:solidFill>
                  <a:schemeClr val="dk1"/>
                </a:solidFill>
              </a:rPr>
              <a:t> flips, rotations and generate synthetic data to produce realistic new images for further data volume boost. Natural augmentation and Deep Convolutional GAN (DCGAN) enables </a:t>
            </a:r>
            <a:r>
              <a:rPr lang="en">
                <a:solidFill>
                  <a:schemeClr val="dk1"/>
                </a:solidFill>
              </a:rPr>
              <a:t>successful</a:t>
            </a:r>
            <a:r>
              <a:rPr lang="en">
                <a:solidFill>
                  <a:schemeClr val="dk1"/>
                </a:solidFill>
              </a:rPr>
              <a:t> </a:t>
            </a:r>
            <a:r>
              <a:rPr lang="en">
                <a:solidFill>
                  <a:schemeClr val="dk1"/>
                </a:solidFill>
              </a:rPr>
              <a:t>training</a:t>
            </a:r>
            <a:r>
              <a:rPr lang="en">
                <a:solidFill>
                  <a:schemeClr val="dk1"/>
                </a:solidFill>
              </a:rPr>
              <a:t> of CNN by providing data.</a:t>
            </a:r>
            <a:endParaRPr>
              <a:solidFill>
                <a:schemeClr val="dk1"/>
              </a:solidFill>
            </a:endParaRPr>
          </a:p>
        </p:txBody>
      </p:sp>
      <p:pic>
        <p:nvPicPr>
          <p:cNvPr id="62" name="Google Shape;62;p14"/>
          <p:cNvPicPr preferRelativeResize="0"/>
          <p:nvPr/>
        </p:nvPicPr>
        <p:blipFill>
          <a:blip r:embed="rId3">
            <a:alphaModFix/>
          </a:blip>
          <a:stretch>
            <a:fillRect/>
          </a:stretch>
        </p:blipFill>
        <p:spPr>
          <a:xfrm>
            <a:off x="826975" y="3242125"/>
            <a:ext cx="2280924" cy="1710674"/>
          </a:xfrm>
          <a:prstGeom prst="rect">
            <a:avLst/>
          </a:prstGeom>
          <a:noFill/>
          <a:ln>
            <a:noFill/>
          </a:ln>
        </p:spPr>
      </p:pic>
      <p:pic>
        <p:nvPicPr>
          <p:cNvPr id="63" name="Google Shape;63;p14"/>
          <p:cNvPicPr preferRelativeResize="0"/>
          <p:nvPr/>
        </p:nvPicPr>
        <p:blipFill>
          <a:blip r:embed="rId4">
            <a:alphaModFix/>
          </a:blip>
          <a:stretch>
            <a:fillRect/>
          </a:stretch>
        </p:blipFill>
        <p:spPr>
          <a:xfrm>
            <a:off x="3525875" y="3242118"/>
            <a:ext cx="2280924" cy="1710693"/>
          </a:xfrm>
          <a:prstGeom prst="rect">
            <a:avLst/>
          </a:prstGeom>
          <a:noFill/>
          <a:ln>
            <a:noFill/>
          </a:ln>
        </p:spPr>
      </p:pic>
      <p:pic>
        <p:nvPicPr>
          <p:cNvPr id="64" name="Google Shape;64;p14"/>
          <p:cNvPicPr preferRelativeResize="0"/>
          <p:nvPr/>
        </p:nvPicPr>
        <p:blipFill>
          <a:blip r:embed="rId5">
            <a:alphaModFix/>
          </a:blip>
          <a:stretch>
            <a:fillRect/>
          </a:stretch>
        </p:blipFill>
        <p:spPr>
          <a:xfrm>
            <a:off x="6224775" y="3242112"/>
            <a:ext cx="2280924" cy="17107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Collection and Labelling</a:t>
            </a:r>
            <a:endParaRPr/>
          </a:p>
        </p:txBody>
      </p:sp>
      <p:sp>
        <p:nvSpPr>
          <p:cNvPr id="70" name="Google Shape;70;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Original Dataset: 32 high resolution images (2048*1536) of worn cutting tools. Each image is labelled into one of the 3 classes i.e. fine, mild, severe using the mean diameter attribute from the excel sheet.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Diameter &lt;= 10 -&gt; fine</a:t>
            </a:r>
            <a:br>
              <a:rPr lang="en">
                <a:solidFill>
                  <a:schemeClr val="dk1"/>
                </a:solidFill>
              </a:rPr>
            </a:br>
            <a:r>
              <a:rPr lang="en">
                <a:solidFill>
                  <a:schemeClr val="dk1"/>
                </a:solidFill>
              </a:rPr>
              <a:t>Diameter &gt; 10 and Diameter &lt;= 15 -&gt; mild</a:t>
            </a:r>
            <a:br>
              <a:rPr lang="en">
                <a:solidFill>
                  <a:schemeClr val="dk1"/>
                </a:solidFill>
              </a:rPr>
            </a:br>
            <a:r>
              <a:rPr lang="en">
                <a:solidFill>
                  <a:schemeClr val="dk1"/>
                </a:solidFill>
              </a:rPr>
              <a:t>Diameter &gt; 15 -&gt; severe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Train/Test Split: The images were split ~75/25% per class (e.g. ~24 train, 8 test). This yields an initial training set of only ~24 images (across 3 classes) – far too few for deep learning. Hence, augmentation is crucial.</a:t>
            </a:r>
            <a:endParaRPr sz="2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Augmentation Pipeline</a:t>
            </a:r>
            <a:endParaRPr/>
          </a:p>
        </p:txBody>
      </p:sp>
      <p:sp>
        <p:nvSpPr>
          <p:cNvPr id="76" name="Google Shape;7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
                <a:solidFill>
                  <a:schemeClr val="dk1"/>
                </a:solidFill>
              </a:rPr>
              <a:t>Goal:</a:t>
            </a:r>
            <a:r>
              <a:rPr lang="en">
                <a:solidFill>
                  <a:schemeClr val="dk1"/>
                </a:solidFill>
              </a:rPr>
              <a:t> Inflate the dataset size by creating many altered copies of each original image. We aimed for ~300 images per class (combining train+test) after augmentation.</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Techniques Applied:</a:t>
            </a:r>
            <a:br>
              <a:rPr b="1" lang="en">
                <a:solidFill>
                  <a:schemeClr val="dk1"/>
                </a:solidFill>
              </a:rPr>
            </a:br>
            <a:r>
              <a:rPr lang="en">
                <a:solidFill>
                  <a:schemeClr val="dk1"/>
                </a:solidFill>
              </a:rPr>
              <a:t>1. </a:t>
            </a:r>
            <a:r>
              <a:rPr i="1" lang="en">
                <a:solidFill>
                  <a:schemeClr val="dk1"/>
                </a:solidFill>
              </a:rPr>
              <a:t>Geometric:</a:t>
            </a:r>
            <a:r>
              <a:rPr lang="en">
                <a:solidFill>
                  <a:schemeClr val="dk1"/>
                </a:solidFill>
              </a:rPr>
              <a:t> Rotate images by various angles (e.g. ±5°, 10°, 15°, 20°) and horizontal flip.</a:t>
            </a:r>
            <a:br>
              <a:rPr lang="en">
                <a:solidFill>
                  <a:schemeClr val="dk1"/>
                </a:solidFill>
              </a:rPr>
            </a:br>
            <a:r>
              <a:rPr lang="en">
                <a:solidFill>
                  <a:schemeClr val="dk1"/>
                </a:solidFill>
              </a:rPr>
              <a:t>2. </a:t>
            </a:r>
            <a:r>
              <a:rPr i="1" lang="en">
                <a:solidFill>
                  <a:schemeClr val="dk1"/>
                </a:solidFill>
              </a:rPr>
              <a:t>Noise:</a:t>
            </a:r>
            <a:r>
              <a:rPr lang="en">
                <a:solidFill>
                  <a:schemeClr val="dk1"/>
                </a:solidFill>
              </a:rPr>
              <a:t> Add Gaussian noise at multiple levels (σ = 10, 15, 20, 25).</a:t>
            </a:r>
            <a:br>
              <a:rPr lang="en">
                <a:solidFill>
                  <a:schemeClr val="dk1"/>
                </a:solidFill>
              </a:rPr>
            </a:br>
            <a:r>
              <a:rPr lang="en">
                <a:solidFill>
                  <a:schemeClr val="dk1"/>
                </a:solidFill>
              </a:rPr>
              <a:t>3. </a:t>
            </a:r>
            <a:r>
              <a:rPr i="1" lang="en">
                <a:solidFill>
                  <a:schemeClr val="dk1"/>
                </a:solidFill>
              </a:rPr>
              <a:t>Photometric:</a:t>
            </a:r>
            <a:r>
              <a:rPr lang="en">
                <a:solidFill>
                  <a:schemeClr val="dk1"/>
                </a:solidFill>
              </a:rPr>
              <a:t> Adjust brightness and contrast (e.g. ±20% variations)​</a:t>
            </a:r>
            <a:endParaRPr sz="3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nvSpPr>
        <p:spPr>
          <a:xfrm>
            <a:off x="394475" y="287675"/>
            <a:ext cx="8336400" cy="4489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sz="1800">
                <a:solidFill>
                  <a:schemeClr val="dk1"/>
                </a:solidFill>
              </a:rPr>
              <a:t>Augmentation Process:</a:t>
            </a:r>
            <a:r>
              <a:rPr lang="en" sz="1800">
                <a:solidFill>
                  <a:schemeClr val="dk1"/>
                </a:solidFill>
              </a:rPr>
              <a:t> Each original image is fed into a function </a:t>
            </a:r>
            <a:r>
              <a:rPr b="1" lang="en" sz="1800">
                <a:solidFill>
                  <a:srgbClr val="188038"/>
                </a:solidFill>
                <a:latin typeface="Roboto Mono"/>
                <a:ea typeface="Roboto Mono"/>
                <a:cs typeface="Roboto Mono"/>
                <a:sym typeface="Roboto Mono"/>
              </a:rPr>
              <a:t>augment_image_controlled</a:t>
            </a:r>
            <a:r>
              <a:rPr lang="en" sz="1800">
                <a:solidFill>
                  <a:schemeClr val="dk1"/>
                </a:solidFill>
              </a:rPr>
              <a:t> which applies these transformations and generates many variants. We generated up to ~40 augments per image (rotations, one flip, several noise and brightness/contrast adjustments) until reaching a target count. Augmented images were saved in new subfolders (e.g. </a:t>
            </a:r>
            <a:r>
              <a:rPr b="1" lang="en" sz="1800">
                <a:solidFill>
                  <a:srgbClr val="188038"/>
                </a:solidFill>
                <a:latin typeface="Roboto Mono"/>
                <a:ea typeface="Roboto Mono"/>
                <a:cs typeface="Roboto Mono"/>
                <a:sym typeface="Roboto Mono"/>
              </a:rPr>
              <a:t>fine_train_augmented</a:t>
            </a:r>
            <a:r>
              <a:rPr lang="en" sz="1800">
                <a:solidFill>
                  <a:schemeClr val="dk1"/>
                </a:solidFill>
              </a:rPr>
              <a:t>).</a:t>
            </a:r>
            <a:endParaRPr sz="1800">
              <a:solidFill>
                <a:schemeClr val="dk1"/>
              </a:solidFill>
            </a:endParaRPr>
          </a:p>
          <a:p>
            <a:pPr indent="-342900" lvl="0" marL="457200" rtl="0" algn="l">
              <a:spcBef>
                <a:spcPts val="0"/>
              </a:spcBef>
              <a:spcAft>
                <a:spcPts val="0"/>
              </a:spcAft>
              <a:buSzPts val="1800"/>
              <a:buChar char="●"/>
            </a:pPr>
            <a:r>
              <a:rPr b="1" lang="en" sz="1800">
                <a:solidFill>
                  <a:schemeClr val="dk1"/>
                </a:solidFill>
              </a:rPr>
              <a:t>Resulting Dataset:</a:t>
            </a:r>
            <a:r>
              <a:rPr lang="en" sz="1800">
                <a:solidFill>
                  <a:schemeClr val="dk1"/>
                </a:solidFill>
              </a:rPr>
              <a:t> 240 augmented training images </a:t>
            </a:r>
            <a:r>
              <a:rPr i="1" lang="en" sz="1800">
                <a:solidFill>
                  <a:schemeClr val="dk1"/>
                </a:solidFill>
              </a:rPr>
              <a:t>per class</a:t>
            </a:r>
            <a:r>
              <a:rPr lang="en" sz="1800">
                <a:solidFill>
                  <a:schemeClr val="dk1"/>
                </a:solidFill>
              </a:rPr>
              <a:t> (including the original images copied in) and 60 augmented test images per class. This expanded the dataset roughly tenfold (from 32 to 900 images total) using just natural augmentation.</a:t>
            </a:r>
            <a:endParaRPr sz="2500">
              <a:solidFill>
                <a:schemeClr val="dk1"/>
              </a:solidFill>
            </a:endParaRPr>
          </a:p>
        </p:txBody>
      </p:sp>
      <p:pic>
        <p:nvPicPr>
          <p:cNvPr id="82" name="Google Shape;82;p17"/>
          <p:cNvPicPr preferRelativeResize="0"/>
          <p:nvPr/>
        </p:nvPicPr>
        <p:blipFill>
          <a:blip r:embed="rId3">
            <a:alphaModFix/>
          </a:blip>
          <a:stretch>
            <a:fillRect/>
          </a:stretch>
        </p:blipFill>
        <p:spPr>
          <a:xfrm>
            <a:off x="906625" y="3162750"/>
            <a:ext cx="2443402" cy="1832552"/>
          </a:xfrm>
          <a:prstGeom prst="rect">
            <a:avLst/>
          </a:prstGeom>
          <a:noFill/>
          <a:ln>
            <a:noFill/>
          </a:ln>
        </p:spPr>
      </p:pic>
      <p:pic>
        <p:nvPicPr>
          <p:cNvPr id="83" name="Google Shape;83;p17"/>
          <p:cNvPicPr preferRelativeResize="0"/>
          <p:nvPr/>
        </p:nvPicPr>
        <p:blipFill>
          <a:blip r:embed="rId4">
            <a:alphaModFix/>
          </a:blip>
          <a:stretch>
            <a:fillRect/>
          </a:stretch>
        </p:blipFill>
        <p:spPr>
          <a:xfrm>
            <a:off x="3690826" y="3162750"/>
            <a:ext cx="2443402" cy="1832544"/>
          </a:xfrm>
          <a:prstGeom prst="rect">
            <a:avLst/>
          </a:prstGeom>
          <a:noFill/>
          <a:ln>
            <a:noFill/>
          </a:ln>
        </p:spPr>
      </p:pic>
      <p:pic>
        <p:nvPicPr>
          <p:cNvPr id="84" name="Google Shape;84;p17"/>
          <p:cNvPicPr preferRelativeResize="0"/>
          <p:nvPr/>
        </p:nvPicPr>
        <p:blipFill>
          <a:blip r:embed="rId5">
            <a:alphaModFix/>
          </a:blip>
          <a:stretch>
            <a:fillRect/>
          </a:stretch>
        </p:blipFill>
        <p:spPr>
          <a:xfrm>
            <a:off x="6475050" y="3162750"/>
            <a:ext cx="2443402" cy="183254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Synthetic Data Generation with DCGAN</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chemeClr val="dk1"/>
              </a:buClr>
              <a:buSzPts val="1700"/>
              <a:buChar char="●"/>
            </a:pPr>
            <a:r>
              <a:rPr b="1" lang="en" sz="1700">
                <a:solidFill>
                  <a:schemeClr val="dk1"/>
                </a:solidFill>
              </a:rPr>
              <a:t>Objective</a:t>
            </a:r>
            <a:r>
              <a:rPr lang="en" sz="1700">
                <a:solidFill>
                  <a:schemeClr val="dk1"/>
                </a:solidFill>
              </a:rPr>
              <a:t>: Employ a Deep Convolutional GAN (DCGAN) to synthesize novel tool‑wear images, thereby extending the representational capacity of the dataset beyond standard augmentation techniques.</a:t>
            </a:r>
            <a:endParaRPr sz="1700">
              <a:solidFill>
                <a:schemeClr val="dk1"/>
              </a:solidFill>
            </a:endParaRPr>
          </a:p>
          <a:p>
            <a:pPr indent="-336550" lvl="0" marL="457200" rtl="0" algn="l">
              <a:spcBef>
                <a:spcPts val="0"/>
              </a:spcBef>
              <a:spcAft>
                <a:spcPts val="0"/>
              </a:spcAft>
              <a:buClr>
                <a:schemeClr val="dk1"/>
              </a:buClr>
              <a:buSzPts val="1700"/>
              <a:buChar char="●"/>
            </a:pPr>
            <a:r>
              <a:rPr b="1" lang="en" sz="1700">
                <a:solidFill>
                  <a:schemeClr val="dk1"/>
                </a:solidFill>
              </a:rPr>
              <a:t>Generator Design</a:t>
            </a:r>
            <a:endParaRPr b="1" sz="1700">
              <a:solidFill>
                <a:schemeClr val="dk1"/>
              </a:solidFill>
            </a:endParaRPr>
          </a:p>
          <a:p>
            <a:pPr indent="-336550" lvl="1" marL="1371600" rtl="0" algn="l">
              <a:spcBef>
                <a:spcPts val="0"/>
              </a:spcBef>
              <a:spcAft>
                <a:spcPts val="0"/>
              </a:spcAft>
              <a:buClr>
                <a:schemeClr val="dk1"/>
              </a:buClr>
              <a:buSzPts val="1700"/>
              <a:buChar char="○"/>
            </a:pPr>
            <a:r>
              <a:rPr b="1" lang="en">
                <a:solidFill>
                  <a:schemeClr val="dk1"/>
                </a:solidFill>
              </a:rPr>
              <a:t>Input</a:t>
            </a:r>
            <a:r>
              <a:rPr lang="en">
                <a:solidFill>
                  <a:schemeClr val="dk1"/>
                </a:solidFill>
              </a:rPr>
              <a:t>: 100‑dimensional latent vector z∼N(0,1)</a:t>
            </a:r>
            <a:endParaRPr>
              <a:solidFill>
                <a:schemeClr val="dk1"/>
              </a:solidFill>
            </a:endParaRPr>
          </a:p>
          <a:p>
            <a:pPr indent="-336550" lvl="1" marL="1371600" rtl="0" algn="l">
              <a:spcBef>
                <a:spcPts val="0"/>
              </a:spcBef>
              <a:spcAft>
                <a:spcPts val="0"/>
              </a:spcAft>
              <a:buClr>
                <a:schemeClr val="dk1"/>
              </a:buClr>
              <a:buSzPts val="1700"/>
              <a:buChar char="○"/>
            </a:pPr>
            <a:r>
              <a:rPr b="1" lang="en">
                <a:solidFill>
                  <a:schemeClr val="dk1"/>
                </a:solidFill>
              </a:rPr>
              <a:t>Architecture: </a:t>
            </a:r>
            <a:r>
              <a:rPr lang="en">
                <a:solidFill>
                  <a:schemeClr val="dk1"/>
                </a:solidFill>
              </a:rPr>
              <a:t>Series of Convolutional layers with kernel size 5 and stride 2, interleaved with Batch Normalization and ReLU activations to promote stable gradient propagation.</a:t>
            </a:r>
            <a:endParaRPr>
              <a:solidFill>
                <a:schemeClr val="dk1"/>
              </a:solidFill>
            </a:endParaRPr>
          </a:p>
          <a:p>
            <a:pPr indent="-317500" lvl="2" marL="1828800" rtl="0" algn="l">
              <a:spcBef>
                <a:spcPts val="0"/>
              </a:spcBef>
              <a:spcAft>
                <a:spcPts val="0"/>
              </a:spcAft>
              <a:buClr>
                <a:schemeClr val="dk1"/>
              </a:buClr>
              <a:buSzPts val="1400"/>
              <a:buChar char="■"/>
            </a:pPr>
            <a:r>
              <a:rPr b="1" lang="en" sz="1100">
                <a:solidFill>
                  <a:schemeClr val="dk1"/>
                </a:solidFill>
              </a:rPr>
              <a:t>Resolution Progression</a:t>
            </a:r>
            <a:r>
              <a:rPr lang="en" sz="1100">
                <a:solidFill>
                  <a:schemeClr val="dk1"/>
                </a:solidFill>
              </a:rPr>
              <a:t>: Feature maps are upsampled through the sequence</a:t>
            </a:r>
            <a:endParaRPr sz="1100">
              <a:solidFill>
                <a:schemeClr val="dk1"/>
              </a:solidFill>
            </a:endParaRPr>
          </a:p>
          <a:p>
            <a:pPr indent="-317500" lvl="2" marL="1828800" rtl="0" algn="l">
              <a:spcBef>
                <a:spcPts val="0"/>
              </a:spcBef>
              <a:spcAft>
                <a:spcPts val="0"/>
              </a:spcAft>
              <a:buClr>
                <a:schemeClr val="dk1"/>
              </a:buClr>
              <a:buSzPts val="1400"/>
              <a:buChar char="■"/>
            </a:pPr>
            <a:r>
              <a:rPr lang="en" sz="1100">
                <a:solidFill>
                  <a:schemeClr val="dk1"/>
                </a:solidFill>
              </a:rPr>
              <a:t>16×16  →  32×32  →  64×64  →  128×128  →  256×256  →  512×512  →  1024×1024</a:t>
            </a:r>
            <a:endParaRPr>
              <a:solidFill>
                <a:schemeClr val="dk1"/>
              </a:solidFill>
            </a:endParaRPr>
          </a:p>
          <a:p>
            <a:pPr indent="-304800" lvl="2" marL="1828800" rtl="0" algn="l">
              <a:spcBef>
                <a:spcPts val="0"/>
              </a:spcBef>
              <a:spcAft>
                <a:spcPts val="0"/>
              </a:spcAft>
              <a:buClr>
                <a:schemeClr val="dk1"/>
              </a:buClr>
              <a:buSzPts val="1200"/>
              <a:buChar char="■"/>
            </a:pPr>
            <a:r>
              <a:rPr b="1" lang="en" sz="1200">
                <a:solidFill>
                  <a:schemeClr val="dk1"/>
                </a:solidFill>
              </a:rPr>
              <a:t>Output Layer</a:t>
            </a:r>
            <a:r>
              <a:rPr lang="en" sz="1200">
                <a:solidFill>
                  <a:schemeClr val="dk1"/>
                </a:solidFill>
              </a:rPr>
              <a:t>: Applies a tanh⁡ activation to constrain pixel intensities to [−1,1] producing a final 1024×1024 RGB image.</a:t>
            </a:r>
            <a:endParaRPr sz="12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nvSpPr>
        <p:spPr>
          <a:xfrm>
            <a:off x="241925" y="178725"/>
            <a:ext cx="8674200" cy="47184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sz="1800">
                <a:solidFill>
                  <a:schemeClr val="dk1"/>
                </a:solidFill>
              </a:rPr>
              <a:t>Discriminator Design:</a:t>
            </a:r>
            <a:endParaRPr sz="1800">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Input</a:t>
            </a:r>
            <a:r>
              <a:rPr lang="en">
                <a:solidFill>
                  <a:schemeClr val="dk1"/>
                </a:solidFill>
              </a:rPr>
              <a:t>: 1024×1024 RGB image (real or generated).</a:t>
            </a:r>
            <a:endParaRPr>
              <a:solidFill>
                <a:schemeClr val="dk1"/>
              </a:solidFill>
            </a:endParaRPr>
          </a:p>
          <a:p>
            <a:pPr indent="-317500" lvl="1" marL="914400" rtl="0" algn="l">
              <a:spcBef>
                <a:spcPts val="0"/>
              </a:spcBef>
              <a:spcAft>
                <a:spcPts val="0"/>
              </a:spcAft>
              <a:buClr>
                <a:schemeClr val="dk1"/>
              </a:buClr>
              <a:buSzPts val="1400"/>
              <a:buChar char="○"/>
            </a:pPr>
            <a:r>
              <a:rPr b="1" lang="en">
                <a:solidFill>
                  <a:schemeClr val="dk1"/>
                </a:solidFill>
              </a:rPr>
              <a:t>Architecture</a:t>
            </a:r>
            <a:r>
              <a:rPr lang="en">
                <a:solidFill>
                  <a:schemeClr val="dk1"/>
                </a:solidFill>
              </a:rPr>
              <a:t>: Series of convolutional layers (</a:t>
            </a:r>
            <a:r>
              <a:rPr lang="en">
                <a:solidFill>
                  <a:srgbClr val="188038"/>
                </a:solidFill>
                <a:latin typeface="Roboto Mono"/>
                <a:ea typeface="Roboto Mono"/>
                <a:cs typeface="Roboto Mono"/>
                <a:sym typeface="Roboto Mono"/>
              </a:rPr>
              <a:t>Conv2D</a:t>
            </a:r>
            <a:r>
              <a:rPr lang="en">
                <a:solidFill>
                  <a:schemeClr val="dk1"/>
                </a:solidFill>
              </a:rPr>
              <a:t>, kernel size 5, stride 2) to progressively downsample spatial dimensions</a:t>
            </a:r>
            <a:br>
              <a:rPr lang="en">
                <a:solidFill>
                  <a:schemeClr val="dk1"/>
                </a:solidFill>
              </a:rPr>
            </a:br>
            <a:r>
              <a:rPr lang="en">
                <a:solidFill>
                  <a:schemeClr val="dk1"/>
                </a:solidFill>
              </a:rPr>
              <a:t>1024×1024  →  512×512  →  256×256  →  128×128  →  64×64  →  32×32</a:t>
            </a:r>
            <a:endParaRPr>
              <a:solidFill>
                <a:schemeClr val="dk1"/>
              </a:solidFill>
            </a:endParaRPr>
          </a:p>
          <a:p>
            <a:pPr indent="-311150" lvl="1" marL="914400" rtl="0" algn="l">
              <a:spcBef>
                <a:spcPts val="0"/>
              </a:spcBef>
              <a:spcAft>
                <a:spcPts val="0"/>
              </a:spcAft>
              <a:buClr>
                <a:schemeClr val="dk1"/>
              </a:buClr>
              <a:buSzPts val="1300"/>
              <a:buChar char="○"/>
            </a:pPr>
            <a:r>
              <a:rPr b="1" lang="en">
                <a:solidFill>
                  <a:schemeClr val="dk1"/>
                </a:solidFill>
              </a:rPr>
              <a:t>Regularization</a:t>
            </a:r>
            <a:r>
              <a:rPr lang="en">
                <a:solidFill>
                  <a:schemeClr val="dk1"/>
                </a:solidFill>
              </a:rPr>
              <a:t>: LeakyReLU activations (negative slope 0.2) and Dropout layers to mitigate mode collapse and overfitting.</a:t>
            </a:r>
            <a:endParaRPr>
              <a:solidFill>
                <a:schemeClr val="dk1"/>
              </a:solidFill>
            </a:endParaRPr>
          </a:p>
          <a:p>
            <a:pPr indent="-311150" lvl="1" marL="914400" rtl="0" algn="l">
              <a:spcBef>
                <a:spcPts val="0"/>
              </a:spcBef>
              <a:spcAft>
                <a:spcPts val="0"/>
              </a:spcAft>
              <a:buClr>
                <a:schemeClr val="dk1"/>
              </a:buClr>
              <a:buSzPts val="1300"/>
              <a:buChar char="○"/>
            </a:pPr>
            <a:r>
              <a:rPr b="1" lang="en">
                <a:solidFill>
                  <a:schemeClr val="dk1"/>
                </a:solidFill>
              </a:rPr>
              <a:t>Classification Head</a:t>
            </a:r>
            <a:r>
              <a:rPr lang="en">
                <a:solidFill>
                  <a:schemeClr val="dk1"/>
                </a:solidFill>
              </a:rPr>
              <a:t>: Sigmoid activation on a flattened feature vector to yield a scalar probability of “realness.”</a:t>
            </a:r>
            <a:endParaRPr sz="1700">
              <a:solidFill>
                <a:schemeClr val="dk1"/>
              </a:solidFill>
            </a:endParaRPr>
          </a:p>
        </p:txBody>
      </p:sp>
      <p:pic>
        <p:nvPicPr>
          <p:cNvPr id="96" name="Google Shape;96;p19"/>
          <p:cNvPicPr preferRelativeResize="0"/>
          <p:nvPr/>
        </p:nvPicPr>
        <p:blipFill>
          <a:blip r:embed="rId3">
            <a:alphaModFix/>
          </a:blip>
          <a:stretch>
            <a:fillRect/>
          </a:stretch>
        </p:blipFill>
        <p:spPr>
          <a:xfrm>
            <a:off x="950250" y="2571750"/>
            <a:ext cx="2168550" cy="2168550"/>
          </a:xfrm>
          <a:prstGeom prst="rect">
            <a:avLst/>
          </a:prstGeom>
          <a:noFill/>
          <a:ln>
            <a:noFill/>
          </a:ln>
        </p:spPr>
      </p:pic>
      <p:pic>
        <p:nvPicPr>
          <p:cNvPr id="97" name="Google Shape;97;p19"/>
          <p:cNvPicPr preferRelativeResize="0"/>
          <p:nvPr/>
        </p:nvPicPr>
        <p:blipFill>
          <a:blip r:embed="rId4">
            <a:alphaModFix/>
          </a:blip>
          <a:stretch>
            <a:fillRect/>
          </a:stretch>
        </p:blipFill>
        <p:spPr>
          <a:xfrm>
            <a:off x="3558400" y="2571750"/>
            <a:ext cx="2168550" cy="2168550"/>
          </a:xfrm>
          <a:prstGeom prst="rect">
            <a:avLst/>
          </a:prstGeom>
          <a:noFill/>
          <a:ln>
            <a:noFill/>
          </a:ln>
        </p:spPr>
      </p:pic>
      <p:pic>
        <p:nvPicPr>
          <p:cNvPr id="98" name="Google Shape;98;p19"/>
          <p:cNvPicPr preferRelativeResize="0"/>
          <p:nvPr/>
        </p:nvPicPr>
        <p:blipFill>
          <a:blip r:embed="rId5">
            <a:alphaModFix/>
          </a:blip>
          <a:stretch>
            <a:fillRect/>
          </a:stretch>
        </p:blipFill>
        <p:spPr>
          <a:xfrm>
            <a:off x="6166550" y="2571750"/>
            <a:ext cx="2168550" cy="2168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Final Dataset Composition</a:t>
            </a:r>
            <a:endParaRPr/>
          </a:p>
        </p:txBody>
      </p:sp>
      <p:sp>
        <p:nvSpPr>
          <p:cNvPr id="104" name="Google Shape;104;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Clr>
                <a:schemeClr val="dk1"/>
              </a:buClr>
              <a:buSzPts val="2100"/>
              <a:buChar char="●"/>
            </a:pPr>
            <a:r>
              <a:rPr b="1" lang="en" sz="1400">
                <a:solidFill>
                  <a:schemeClr val="dk1"/>
                </a:solidFill>
              </a:rPr>
              <a:t>Combined Dataset:</a:t>
            </a:r>
            <a:r>
              <a:rPr lang="en" sz="1400">
                <a:solidFill>
                  <a:schemeClr val="dk1"/>
                </a:solidFill>
              </a:rPr>
              <a:t> After augmentation and DCGAN synthesis, our dataset expanded from 32 to </a:t>
            </a:r>
            <a:r>
              <a:rPr b="1" lang="en" sz="1400">
                <a:solidFill>
                  <a:schemeClr val="dk1"/>
                </a:solidFill>
              </a:rPr>
              <a:t>~3,720 images</a:t>
            </a:r>
            <a:r>
              <a:rPr lang="en" sz="1400">
                <a:solidFill>
                  <a:schemeClr val="dk1"/>
                </a:solidFill>
              </a:rPr>
              <a:t> (train + test). Each class now has roughly 1,240 training images (240 augmented real + ~1000 synthetic) and 60 test images.</a:t>
            </a:r>
            <a:endParaRPr sz="1400">
              <a:solidFill>
                <a:schemeClr val="dk1"/>
              </a:solidFill>
            </a:endParaRPr>
          </a:p>
          <a:p>
            <a:pPr indent="-342900" lvl="0" marL="457200" rtl="0" algn="l">
              <a:spcBef>
                <a:spcPts val="0"/>
              </a:spcBef>
              <a:spcAft>
                <a:spcPts val="0"/>
              </a:spcAft>
              <a:buClr>
                <a:schemeClr val="dk1"/>
              </a:buClr>
              <a:buSzPts val="1800"/>
              <a:buChar char="●"/>
            </a:pPr>
            <a:r>
              <a:rPr b="1" lang="en" sz="1400">
                <a:solidFill>
                  <a:schemeClr val="dk1"/>
                </a:solidFill>
              </a:rPr>
              <a:t>Class Balance:</a:t>
            </a:r>
            <a:r>
              <a:rPr lang="en" sz="1400">
                <a:solidFill>
                  <a:schemeClr val="dk1"/>
                </a:solidFill>
              </a:rPr>
              <a:t> The augmentation process was configured to produce equal numbers of images per class. Thus, the final training set is class-balanced (≈1240 images in each class). This removes any bias toward one wear category.</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Architecture</a:t>
            </a:r>
            <a:endParaRPr/>
          </a:p>
        </p:txBody>
      </p:sp>
      <p:sp>
        <p:nvSpPr>
          <p:cNvPr id="110" name="Google Shape;11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b="1" lang="en" sz="1400">
                <a:solidFill>
                  <a:schemeClr val="dk1"/>
                </a:solidFill>
              </a:rPr>
              <a:t>Choice of Model:</a:t>
            </a:r>
            <a:r>
              <a:rPr lang="en" sz="1400">
                <a:solidFill>
                  <a:schemeClr val="dk1"/>
                </a:solidFill>
              </a:rPr>
              <a:t> We selected </a:t>
            </a:r>
            <a:r>
              <a:rPr b="1" lang="en" sz="1400">
                <a:solidFill>
                  <a:schemeClr val="dk1"/>
                </a:solidFill>
              </a:rPr>
              <a:t>GoogLeNet (Inception v1)</a:t>
            </a:r>
            <a:r>
              <a:rPr lang="en" sz="1400">
                <a:solidFill>
                  <a:schemeClr val="dk1"/>
                </a:solidFill>
              </a:rPr>
              <a:t> as our CNN architecture. GoogLeNet is a 22-layer deep network that introduced Inception modules</a:t>
            </a:r>
            <a:endParaRPr sz="1400">
              <a:solidFill>
                <a:schemeClr val="dk1"/>
              </a:solidFill>
            </a:endParaRPr>
          </a:p>
          <a:p>
            <a:pPr indent="-336550" lvl="0" marL="457200" rtl="0" algn="l">
              <a:spcBef>
                <a:spcPts val="0"/>
              </a:spcBef>
              <a:spcAft>
                <a:spcPts val="0"/>
              </a:spcAft>
              <a:buClr>
                <a:schemeClr val="dk1"/>
              </a:buClr>
              <a:buSzPts val="1700"/>
              <a:buChar char="●"/>
            </a:pPr>
            <a:r>
              <a:rPr b="1" lang="en" sz="1400">
                <a:solidFill>
                  <a:schemeClr val="dk1"/>
                </a:solidFill>
              </a:rPr>
              <a:t>Transfer Learning:</a:t>
            </a:r>
            <a:r>
              <a:rPr lang="en" sz="1400">
                <a:solidFill>
                  <a:schemeClr val="dk1"/>
                </a:solidFill>
              </a:rPr>
              <a:t> We leveraged a pre-trained GoogLeNet (trained on ImageNet) to initialize our model. Rather than training from scratch (risky with limited data), we fine-tuned the network:</a:t>
            </a:r>
            <a:endParaRPr sz="1400">
              <a:solidFill>
                <a:schemeClr val="dk1"/>
              </a:solidFill>
            </a:endParaRPr>
          </a:p>
          <a:p>
            <a:pPr indent="-323850" lvl="1" marL="914400" rtl="0" algn="l">
              <a:spcBef>
                <a:spcPts val="0"/>
              </a:spcBef>
              <a:spcAft>
                <a:spcPts val="0"/>
              </a:spcAft>
              <a:buClr>
                <a:schemeClr val="dk1"/>
              </a:buClr>
              <a:buSzPts val="1500"/>
              <a:buChar char="○"/>
            </a:pPr>
            <a:r>
              <a:rPr b="1" lang="en" sz="1200">
                <a:solidFill>
                  <a:schemeClr val="dk1"/>
                </a:solidFill>
              </a:rPr>
              <a:t>Custom Classifier Head:</a:t>
            </a:r>
            <a:r>
              <a:rPr lang="en" sz="1200">
                <a:solidFill>
                  <a:schemeClr val="dk1"/>
                </a:solidFill>
              </a:rPr>
              <a:t> Replaced the original 1000-class fully connected layer with a new sequence: </a:t>
            </a:r>
            <a:r>
              <a:rPr lang="en" sz="1200">
                <a:solidFill>
                  <a:srgbClr val="188038"/>
                </a:solidFill>
                <a:latin typeface="Roboto Mono"/>
                <a:ea typeface="Roboto Mono"/>
                <a:cs typeface="Roboto Mono"/>
                <a:sym typeface="Roboto Mono"/>
              </a:rPr>
              <a:t>Linear(in_features -&gt; 256) -&gt; LeakyReLU -&gt; Dropout(0.5) -&gt; Linear(256 -&gt; 3)</a:t>
            </a:r>
            <a:r>
              <a:rPr lang="en" sz="1200">
                <a:solidFill>
                  <a:schemeClr val="dk1"/>
                </a:solidFill>
              </a:rPr>
              <a:t> to output our 3 wear classes. We similarly updated GoogLeNet’s two auxiliary classifiers (</a:t>
            </a:r>
            <a:r>
              <a:rPr lang="en" sz="1200">
                <a:solidFill>
                  <a:srgbClr val="188038"/>
                </a:solidFill>
                <a:latin typeface="Roboto Mono"/>
                <a:ea typeface="Roboto Mono"/>
                <a:cs typeface="Roboto Mono"/>
                <a:sym typeface="Roboto Mono"/>
              </a:rPr>
              <a:t>aux1</a:t>
            </a:r>
            <a:r>
              <a:rPr lang="en" sz="1200">
                <a:solidFill>
                  <a:schemeClr val="dk1"/>
                </a:solidFill>
              </a:rPr>
              <a:t>, </a:t>
            </a:r>
            <a:r>
              <a:rPr lang="en" sz="1200">
                <a:solidFill>
                  <a:srgbClr val="188038"/>
                </a:solidFill>
                <a:latin typeface="Roboto Mono"/>
                <a:ea typeface="Roboto Mono"/>
                <a:cs typeface="Roboto Mono"/>
                <a:sym typeface="Roboto Mono"/>
              </a:rPr>
              <a:t>aux2</a:t>
            </a:r>
            <a:r>
              <a:rPr lang="en" sz="1200">
                <a:solidFill>
                  <a:schemeClr val="dk1"/>
                </a:solidFill>
              </a:rPr>
              <a:t>) to output 3 classes instead of 1000 (by replacing their final FC layers).</a:t>
            </a:r>
            <a:endParaRPr sz="1200">
              <a:solidFill>
                <a:schemeClr val="dk1"/>
              </a:solidFill>
            </a:endParaRPr>
          </a:p>
          <a:p>
            <a:pPr indent="-311150" lvl="1" marL="914400" rtl="0" algn="l">
              <a:spcBef>
                <a:spcPts val="0"/>
              </a:spcBef>
              <a:spcAft>
                <a:spcPts val="0"/>
              </a:spcAft>
              <a:buClr>
                <a:schemeClr val="dk1"/>
              </a:buClr>
              <a:buSzPts val="1300"/>
              <a:buChar char="○"/>
            </a:pPr>
            <a:r>
              <a:rPr b="1" lang="en" sz="1200">
                <a:solidFill>
                  <a:schemeClr val="dk1"/>
                </a:solidFill>
              </a:rPr>
              <a:t>Freezing Early Layers:</a:t>
            </a:r>
            <a:r>
              <a:rPr lang="en" sz="1200">
                <a:solidFill>
                  <a:schemeClr val="dk1"/>
                </a:solidFill>
              </a:rPr>
              <a:t> We froze the very earliest layers (up to Inception module 1). Specifically, layers before “inception2” were kept at their pretrained weights, and only layers from “inception2” onward were set to trainable in our code​. This means the model retains low-level feature detectors (edges, textures) from ImageNet, and we only adjust higher-level feature layers to our tool wear data.</a:t>
            </a:r>
            <a:endParaRPr sz="13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nvSpPr>
        <p:spPr>
          <a:xfrm>
            <a:off x="285500" y="200500"/>
            <a:ext cx="8641500" cy="46314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Char char="●"/>
            </a:pPr>
            <a:r>
              <a:rPr b="1" lang="en">
                <a:solidFill>
                  <a:schemeClr val="dk1"/>
                </a:solidFill>
              </a:rPr>
              <a:t>Input &amp; Preprocessing:</a:t>
            </a:r>
            <a:r>
              <a:rPr lang="en">
                <a:solidFill>
                  <a:schemeClr val="dk1"/>
                </a:solidFill>
              </a:rPr>
              <a:t> We feed the model 3-channel RGB images resized to 512×512. (GoogLeNet’s original input was 224×224, but we chose 512 for higher detail since our images are high-res. This comes at the cost of more VRAM usage.) We normalize inputs to the same mean/std as ImageNet. During training, we applied on-the-fly augmentations: random resized cropping to 512px, random horizontal flip, small rotations (±15°), and slight color jitter on brightness/contrast/saturation​. These augmentations (distinct from the offline augmentation) add further variability each epoch to prevent overfitting.</a:t>
            </a:r>
            <a:endParaRPr sz="17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Training And Hyperparameters</a:t>
            </a:r>
            <a:endParaRPr/>
          </a:p>
        </p:txBody>
      </p:sp>
      <p:sp>
        <p:nvSpPr>
          <p:cNvPr id="121" name="Google Shape;121;p23"/>
          <p:cNvSpPr txBox="1"/>
          <p:nvPr>
            <p:ph idx="1" type="body"/>
          </p:nvPr>
        </p:nvSpPr>
        <p:spPr>
          <a:xfrm>
            <a:off x="311700" y="1152475"/>
            <a:ext cx="8520600" cy="3668400"/>
          </a:xfrm>
          <a:prstGeom prst="rect">
            <a:avLst/>
          </a:prstGeom>
        </p:spPr>
        <p:txBody>
          <a:bodyPr anchorCtr="0" anchor="t" bIns="91425" lIns="91425" spcFirstLastPara="1" rIns="91425" wrap="square" tIns="91425">
            <a:normAutofit lnSpcReduction="10000"/>
          </a:bodyPr>
          <a:lstStyle/>
          <a:p>
            <a:pPr indent="-304800" lvl="0" marL="457200" rtl="0" algn="l">
              <a:spcBef>
                <a:spcPts val="0"/>
              </a:spcBef>
              <a:spcAft>
                <a:spcPts val="0"/>
              </a:spcAft>
              <a:buClr>
                <a:schemeClr val="dk1"/>
              </a:buClr>
              <a:buSzPts val="1200"/>
              <a:buChar char="●"/>
            </a:pPr>
            <a:r>
              <a:rPr b="1" lang="en" sz="1200">
                <a:solidFill>
                  <a:schemeClr val="dk1"/>
                </a:solidFill>
              </a:rPr>
              <a:t>Training Regime:</a:t>
            </a:r>
            <a:r>
              <a:rPr lang="en" sz="1200">
                <a:solidFill>
                  <a:schemeClr val="dk1"/>
                </a:solidFill>
              </a:rPr>
              <a:t> We trained the model for up to 150 epochs, but with </a:t>
            </a:r>
            <a:r>
              <a:rPr b="1" lang="en" sz="1200">
                <a:solidFill>
                  <a:schemeClr val="dk1"/>
                </a:solidFill>
              </a:rPr>
              <a:t>early stopping</a:t>
            </a:r>
            <a:r>
              <a:rPr lang="en" sz="1200">
                <a:solidFill>
                  <a:schemeClr val="dk1"/>
                </a:solidFill>
              </a:rPr>
              <a:t> in place. We reserved 20% of the training data as a validation set (the first 80% of images were train, next 20% val, by index order). After each epoch, we evaluated on the validation set and on the test set to monitor performance.</a:t>
            </a:r>
            <a:endParaRPr sz="1200">
              <a:solidFill>
                <a:schemeClr val="dk1"/>
              </a:solidFill>
            </a:endParaRPr>
          </a:p>
          <a:p>
            <a:pPr indent="-311150" lvl="0" marL="457200" rtl="0" algn="l">
              <a:spcBef>
                <a:spcPts val="0"/>
              </a:spcBef>
              <a:spcAft>
                <a:spcPts val="0"/>
              </a:spcAft>
              <a:buClr>
                <a:schemeClr val="dk1"/>
              </a:buClr>
              <a:buSzPts val="1300"/>
              <a:buChar char="●"/>
            </a:pPr>
            <a:r>
              <a:rPr b="1" lang="en" sz="1200">
                <a:solidFill>
                  <a:schemeClr val="dk1"/>
                </a:solidFill>
              </a:rPr>
              <a:t>Optimizer:</a:t>
            </a:r>
            <a:r>
              <a:rPr lang="en" sz="1200">
                <a:solidFill>
                  <a:schemeClr val="dk1"/>
                </a:solidFill>
              </a:rPr>
              <a:t> Used </a:t>
            </a:r>
            <a:r>
              <a:rPr b="1" lang="en" sz="1200">
                <a:solidFill>
                  <a:schemeClr val="dk1"/>
                </a:solidFill>
              </a:rPr>
              <a:t>AdamW</a:t>
            </a:r>
            <a:r>
              <a:rPr lang="en" sz="1200">
                <a:solidFill>
                  <a:schemeClr val="dk1"/>
                </a:solidFill>
              </a:rPr>
              <a:t> optimizer (Adam with weight decay) for training. We set a base learning rate of 0.0001 for most layers. To be safe with the pretrained layers, we actually used a </a:t>
            </a:r>
            <a:r>
              <a:rPr i="1" lang="en" sz="1200">
                <a:solidFill>
                  <a:schemeClr val="dk1"/>
                </a:solidFill>
              </a:rPr>
              <a:t>layer-specific LR schedule</a:t>
            </a:r>
            <a:r>
              <a:rPr lang="en" sz="1200">
                <a:solidFill>
                  <a:schemeClr val="dk1"/>
                </a:solidFill>
              </a:rPr>
              <a:t>: very low LR (0.0001×0.01) for “inception2” layers, a low LR (0.0001×0.1) for “inception3” layers, and the base LR (1e-4) for later layers and the new FC layers​. This helps fine-tune gradually – earlier layers change the least, later layers change more.</a:t>
            </a:r>
            <a:endParaRPr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Loss Function:</a:t>
            </a:r>
            <a:r>
              <a:rPr lang="en" sz="1200">
                <a:solidFill>
                  <a:schemeClr val="dk1"/>
                </a:solidFill>
              </a:rPr>
              <a:t> Cross-entropy loss with </a:t>
            </a:r>
            <a:r>
              <a:rPr b="1" lang="en" sz="1200">
                <a:solidFill>
                  <a:schemeClr val="dk1"/>
                </a:solidFill>
              </a:rPr>
              <a:t>label smoothing</a:t>
            </a:r>
            <a:r>
              <a:rPr lang="en" sz="1200">
                <a:solidFill>
                  <a:schemeClr val="dk1"/>
                </a:solidFill>
              </a:rPr>
              <a:t> of 0.1. Label smoothing means when training, instead of using target labels as 100% one class, we use 90% for the true class and 10% distributed among others. This prevents the model from becoming over-confident and can improve generalization.</a:t>
            </a:r>
            <a:endParaRPr sz="1200">
              <a:solidFill>
                <a:schemeClr val="dk1"/>
              </a:solidFill>
            </a:endParaRPr>
          </a:p>
          <a:p>
            <a:pPr indent="-311150" lvl="0" marL="457200" rtl="0" algn="l">
              <a:spcBef>
                <a:spcPts val="0"/>
              </a:spcBef>
              <a:spcAft>
                <a:spcPts val="0"/>
              </a:spcAft>
              <a:buClr>
                <a:schemeClr val="dk1"/>
              </a:buClr>
              <a:buSzPts val="1300"/>
              <a:buChar char="●"/>
            </a:pPr>
            <a:r>
              <a:rPr b="1" lang="en" sz="1200">
                <a:solidFill>
                  <a:schemeClr val="dk1"/>
                </a:solidFill>
              </a:rPr>
              <a:t>Regularization:</a:t>
            </a:r>
            <a:r>
              <a:rPr lang="en" sz="1200">
                <a:solidFill>
                  <a:schemeClr val="dk1"/>
                </a:solidFill>
              </a:rPr>
              <a:t> Besides label smoothing and dropout, we used weight decay (0.01) in AdamW to penalize large weights. We also employed </a:t>
            </a:r>
            <a:r>
              <a:rPr b="1" lang="en" sz="1200">
                <a:solidFill>
                  <a:schemeClr val="dk1"/>
                </a:solidFill>
              </a:rPr>
              <a:t>early stopping</a:t>
            </a:r>
            <a:r>
              <a:rPr lang="en" sz="1200">
                <a:solidFill>
                  <a:schemeClr val="dk1"/>
                </a:solidFill>
              </a:rPr>
              <a:t>: if validation loss didn’t improve for 30 epochs, we halt training to avoid overfitting.</a:t>
            </a:r>
            <a:endParaRPr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Learning Rate Schedule:</a:t>
            </a:r>
            <a:r>
              <a:rPr lang="en" sz="1200">
                <a:solidFill>
                  <a:schemeClr val="dk1"/>
                </a:solidFill>
              </a:rPr>
              <a:t> Implemented </a:t>
            </a:r>
            <a:r>
              <a:rPr b="1" lang="en" sz="1200">
                <a:solidFill>
                  <a:schemeClr val="dk1"/>
                </a:solidFill>
              </a:rPr>
              <a:t>ReduceLROnPlateau</a:t>
            </a:r>
            <a:r>
              <a:rPr lang="en" sz="1200">
                <a:solidFill>
                  <a:schemeClr val="dk1"/>
                </a:solidFill>
              </a:rPr>
              <a:t> on validation loss – if val loss stagnated for 20 epochs, LR was reduced by a factor of 0.2​. This occurred a few times to refine the learning in later epochs. It ensured the model could settle into a minimum.</a:t>
            </a:r>
            <a:endParaRPr sz="12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nvSpPr>
        <p:spPr>
          <a:xfrm>
            <a:off x="416275" y="385750"/>
            <a:ext cx="8401800" cy="4446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b="1" lang="en" sz="1200">
                <a:solidFill>
                  <a:schemeClr val="dk1"/>
                </a:solidFill>
              </a:rPr>
              <a:t>Batch Size &amp; Gradient Accumulation:</a:t>
            </a:r>
            <a:r>
              <a:rPr lang="en" sz="1200">
                <a:solidFill>
                  <a:schemeClr val="dk1"/>
                </a:solidFill>
              </a:rPr>
              <a:t> Batch size was 16 for 512×512 images (memory constraints). In code, we accumulate gradients over 4 mini-batches when batch_size&lt;16 to simulate a larger batch, but since we used exactly 16, no accumulation was needed (accumulation_steps=1)​</a:t>
            </a:r>
            <a:endParaRPr sz="1200">
              <a:solidFill>
                <a:schemeClr val="dk1"/>
              </a:solidFill>
            </a:endParaRPr>
          </a:p>
          <a:p>
            <a:pPr indent="-304800" lvl="0" marL="457200" rtl="0" algn="l">
              <a:spcBef>
                <a:spcPts val="0"/>
              </a:spcBef>
              <a:spcAft>
                <a:spcPts val="0"/>
              </a:spcAft>
              <a:buClr>
                <a:schemeClr val="dk1"/>
              </a:buClr>
              <a:buSzPts val="1200"/>
              <a:buChar char="●"/>
            </a:pPr>
            <a:r>
              <a:rPr b="1" lang="en" sz="1100">
                <a:solidFill>
                  <a:schemeClr val="dk1"/>
                </a:solidFill>
              </a:rPr>
              <a:t>Training Monitoring:</a:t>
            </a:r>
            <a:r>
              <a:rPr lang="en" sz="1100">
                <a:solidFill>
                  <a:schemeClr val="dk1"/>
                </a:solidFill>
              </a:rPr>
              <a:t> We saved the model’s weights whenever the validation loss improved(keeping the best model). We also plotted training curves (loss and accuracy for train/val/test) every 10 epochs to visually inspect training progress.</a:t>
            </a:r>
            <a:endParaRPr sz="12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Performance Evaluation on Test Set</a:t>
            </a:r>
            <a:endParaRPr/>
          </a:p>
        </p:txBody>
      </p:sp>
      <p:sp>
        <p:nvSpPr>
          <p:cNvPr id="132" name="Google Shape;13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04800" lvl="0" marL="457200" rtl="0" algn="l">
              <a:spcBef>
                <a:spcPts val="0"/>
              </a:spcBef>
              <a:spcAft>
                <a:spcPts val="0"/>
              </a:spcAft>
              <a:buClr>
                <a:schemeClr val="dk1"/>
              </a:buClr>
              <a:buSzPts val="1200"/>
              <a:buChar char="●"/>
            </a:pPr>
            <a:r>
              <a:rPr lang="en" sz="1100">
                <a:solidFill>
                  <a:schemeClr val="dk1"/>
                </a:solidFill>
              </a:rPr>
              <a:t>After training, we evaluated the final model on the </a:t>
            </a:r>
            <a:r>
              <a:rPr b="1" lang="en" sz="1100">
                <a:solidFill>
                  <a:schemeClr val="dk1"/>
                </a:solidFill>
              </a:rPr>
              <a:t>independent test set</a:t>
            </a:r>
            <a:r>
              <a:rPr lang="en" sz="1100">
                <a:solidFill>
                  <a:schemeClr val="dk1"/>
                </a:solidFill>
              </a:rPr>
              <a:t> (which contains 60 images per class, none used in training). Key metrics on the test set:</a:t>
            </a:r>
            <a:endParaRPr sz="1100">
              <a:solidFill>
                <a:schemeClr val="dk1"/>
              </a:solidFill>
            </a:endParaRPr>
          </a:p>
          <a:p>
            <a:pPr indent="-304800" lvl="1" marL="914400" rtl="0" algn="l">
              <a:spcBef>
                <a:spcPts val="0"/>
              </a:spcBef>
              <a:spcAft>
                <a:spcPts val="0"/>
              </a:spcAft>
              <a:buClr>
                <a:schemeClr val="dk1"/>
              </a:buClr>
              <a:buSzPts val="1200"/>
              <a:buChar char="○"/>
            </a:pPr>
            <a:r>
              <a:rPr b="1" lang="en" sz="1200">
                <a:solidFill>
                  <a:schemeClr val="dk1"/>
                </a:solidFill>
              </a:rPr>
              <a:t>Accuracy:</a:t>
            </a:r>
            <a:r>
              <a:rPr lang="en" sz="1200">
                <a:solidFill>
                  <a:schemeClr val="dk1"/>
                </a:solidFill>
              </a:rPr>
              <a:t> ~95% (percentage of all tool images correctly classified as fine/mild/severe).</a:t>
            </a:r>
            <a:endParaRPr sz="1200">
              <a:solidFill>
                <a:schemeClr val="dk1"/>
              </a:solidFill>
            </a:endParaRPr>
          </a:p>
          <a:p>
            <a:pPr indent="-304800" lvl="1" marL="914400" rtl="0" algn="l">
              <a:spcBef>
                <a:spcPts val="0"/>
              </a:spcBef>
              <a:spcAft>
                <a:spcPts val="0"/>
              </a:spcAft>
              <a:buClr>
                <a:schemeClr val="dk1"/>
              </a:buClr>
              <a:buSzPts val="1200"/>
              <a:buChar char="○"/>
            </a:pPr>
            <a:r>
              <a:rPr b="1" lang="en" sz="1200">
                <a:solidFill>
                  <a:schemeClr val="dk1"/>
                </a:solidFill>
              </a:rPr>
              <a:t>Macro F1-score:</a:t>
            </a:r>
            <a:r>
              <a:rPr lang="en" sz="1200">
                <a:solidFill>
                  <a:schemeClr val="dk1"/>
                </a:solidFill>
              </a:rPr>
              <a:t> high (≈0.95), indicating strong balance – the model performs well across all classes. We use macro F1 since each class is equally important; it was virtually identical to micro F1 due to balanced classes.</a:t>
            </a:r>
            <a:endParaRPr sz="1200">
              <a:solidFill>
                <a:schemeClr val="dk1"/>
              </a:solidFill>
            </a:endParaRPr>
          </a:p>
          <a:p>
            <a:pPr indent="-304800" lvl="1" marL="914400" rtl="0" algn="l">
              <a:spcBef>
                <a:spcPts val="0"/>
              </a:spcBef>
              <a:spcAft>
                <a:spcPts val="0"/>
              </a:spcAft>
              <a:buClr>
                <a:schemeClr val="dk1"/>
              </a:buClr>
              <a:buSzPts val="1200"/>
              <a:buChar char="○"/>
            </a:pPr>
            <a:r>
              <a:rPr b="1" lang="en" sz="1200">
                <a:solidFill>
                  <a:schemeClr val="dk1"/>
                </a:solidFill>
              </a:rPr>
              <a:t>Precision &amp; Recall:</a:t>
            </a:r>
            <a:r>
              <a:rPr lang="en" sz="1200">
                <a:solidFill>
                  <a:schemeClr val="dk1"/>
                </a:solidFill>
              </a:rPr>
              <a:t> Each class’s precision and recall were in the 92–98% range. For instance, the model had near 100% recall on </a:t>
            </a:r>
            <a:r>
              <a:rPr i="1" lang="en" sz="1200">
                <a:solidFill>
                  <a:schemeClr val="dk1"/>
                </a:solidFill>
              </a:rPr>
              <a:t>severe</a:t>
            </a:r>
            <a:r>
              <a:rPr lang="en" sz="1200">
                <a:solidFill>
                  <a:schemeClr val="dk1"/>
                </a:solidFill>
              </a:rPr>
              <a:t> wear (caught almost all severely worn tools) and slightly lower on </a:t>
            </a:r>
            <a:r>
              <a:rPr i="1" lang="en" sz="1200">
                <a:solidFill>
                  <a:schemeClr val="dk1"/>
                </a:solidFill>
              </a:rPr>
              <a:t>mild</a:t>
            </a:r>
            <a:r>
              <a:rPr lang="en" sz="1200">
                <a:solidFill>
                  <a:schemeClr val="dk1"/>
                </a:solidFill>
              </a:rPr>
              <a:t> wear (a few mild cases were predicted as severe).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These results confirm that augmenting the data (both via traditional means and GANs) enabled the CNN to generalize well. The model can reliably distinguish between fine, mild, and severe tool wear on new images.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We also note that without the GAN-generated images, the model’s performance was weaker. In ablation tests (training with only augmented real images), accuracy dropped significantly. Thus, the synthetic data contributed critical additional variability that improved the classifier.</a:t>
            </a:r>
            <a:endParaRPr sz="12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6"/>
          <p:cNvPicPr preferRelativeResize="0"/>
          <p:nvPr/>
        </p:nvPicPr>
        <p:blipFill>
          <a:blip r:embed="rId3">
            <a:alphaModFix/>
          </a:blip>
          <a:stretch>
            <a:fillRect/>
          </a:stretch>
        </p:blipFill>
        <p:spPr>
          <a:xfrm>
            <a:off x="152400" y="152400"/>
            <a:ext cx="7258050" cy="4838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27"/>
          <p:cNvPicPr preferRelativeResize="0"/>
          <p:nvPr/>
        </p:nvPicPr>
        <p:blipFill>
          <a:blip r:embed="rId3">
            <a:alphaModFix/>
          </a:blip>
          <a:stretch>
            <a:fillRect/>
          </a:stretch>
        </p:blipFill>
        <p:spPr>
          <a:xfrm>
            <a:off x="152400" y="152400"/>
            <a:ext cx="5908650" cy="47269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